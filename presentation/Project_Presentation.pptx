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Banking Loan Risk Analysis Application</a:t>
            </a:r>
          </a:p>
          <a:p>
            <a:pPr>
              <a:spcBef>
                <a:spcPts val="1000"/>
              </a:spcBef>
              <a:defRPr sz="1800">
                <a:solidFill>
                  <a:srgbClr val="1E88E5"/>
                </a:solidFill>
              </a:defRPr>
            </a:pPr>
            <a:r>
              <a:t>Full-Stack Automated ETL, MySQL Relational Mart, Risk Bands &amp; Streamlit Portal</a:t>
            </a:r>
          </a:p>
          <a:p>
            <a:pPr>
              <a:spcBef>
                <a:spcPts val="2500"/>
              </a:spcBef>
              <a:defRPr sz="1400">
                <a:solidFill>
                  <a:srgbClr val="546E7A"/>
                </a:solidFill>
              </a:defRPr>
            </a:pPr>
            <a:r>
              <a:t>Technology Stack: Python 3 • FastAPI • MySQL • Pandas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Challenges in Credit Risk Operations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Financial institutions manage tens of thousands of credit lines with rapid monthly statement shifts.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Spreadsheet-based and manual workflows are slow, prone to human error, and lack auditability.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Underwriters struggle to identify high-exposure delinquent accounts before severe default occurs.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Lack of consolidated data quality checks results in inconsistent or malformed demographic entries.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Core Business Questions Addressed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Which demographic segments exhibit significantly elevated default and risk indicators?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How do credit limits, payment history, and utilization ratios vary across age and education tiers?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Which accounts require urgent manual intervention based on defined credit policy rules?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What are the 6-month portfolio trends in billed balances versus actual cash recoveries?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2. Business Need &amp;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Automated Ingestion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Automate the transformation of raw credit records into normalized tables.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Eliminate manual data wrangling and reduce ETL cycle time from hours to seconds.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Guarantee record integrity via cryptographic reconciliation.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Transparent Risk Bands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Replace black-box ambiguity with explainable Low, Medium, and High risk bands.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Document clear mathematical thresholds for utilization, repayment ratio, and delay duration.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Automate flagged queues for high-risk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Executive &amp; Analyst Portal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Equip underwriters with instant account drilldowns and 6-month billing ledgers.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Provide leadership with real-time portfolio KPIs, exposure meters, and trend charts.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Enable interactive what-if simulation for new applicant credit approvals.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3. End-to-End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Data Ingestion &amp; ETL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UCI Credit Card Clients Data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30,000 Historical Records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8 Data Quality Audits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MD5 Hash Reconciliation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Incremental Upsert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Relational Storage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Engine: MySQL / SQLite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Normalized 3NF Schema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Customers &amp; Profiles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Bills &amp; Payments Ledgers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Indexed Summary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Risk &amp; Rules Engine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0-100 Multi-Factor Scoring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Low/Medium/High Bands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Underwriter Review Triggers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Utilization &amp; Repay Ratios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What-If Scoring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API &amp; UI Presentation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FastAPI ASGI Microservice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JWT Role-Based Auth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Paginated REST Endpoints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Streamlit Multi-Tab Portal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Interactive Plotly Visuals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4. Technology Stack &amp; Justification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FastAPI &amp; Pydantic V2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High-performance asynchronous REST microservice.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Automatic OpenAPI documentation and strict data validation schemas.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MySQL Relational Database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Structured ACID storage with foreign key constraints.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Compound indexes for sub-millisecond demographic and risk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Pandas &amp; SQLAlchemy ORM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High-efficiency vector transformations and categorical feature decoding.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Clean object-relational mapping and connection pooling.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Streamlit &amp; Plotly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Rapid interactive banking dashboard with real-time reactive widgets.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Executive KPI meters, donut charts, and what-if underwriting sliders.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5. Risk Scoring &amp; Underwriting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Documented Risk Bands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HIGH RISK (Score ≥ 65):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- Max delay ≥ 2 months, OR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- Utilization ≥ 85% with repayment &lt; 20%, OR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- Known default history.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MEDIUM RISK (Score 35 - 64):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- Max delay = 1 month, OR utilization 60%-85%, OR repayment ratio 20%-50%.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LOW RISK (Score &lt; 35):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- Max delay ≤ 0, utilization &lt; 60%, repayment ratio ≥ 50%.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Manual Underwriter Review Triggers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Rule 1 - High Exposure Delinquency: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Credit limit &gt; NT00,000 accompanied by payment delay ≥ 1 month.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Rule 2 - Overleveraged Low Repayment: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Credit utilization &gt; 90% while repayment ratio &lt; 15%.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Rule 3 - Chronic Payment Distress: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Delinquency observed across 2 or more distinct billing cycles.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Rule 4 - High Balance Zero Payment: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  Latest statement &gt; NT0,000 with zero repayment made.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6. Portal Features &amp; User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Executive Dashboard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Live exposure summary meters.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Donut chart of Risk Bands.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Default vs non-default distribution.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Portfolio health indicators.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Customer Explorer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Multi-field demographic filters.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Customer ID quick search.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6-Month billing &amp; cashflow ledger.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Individual borrower risk profile 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Review &amp; Simulation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Underwriter approval/rejection queue.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Real-time What-If risk simulator.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ETL control center &amp; reconciliation.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SQL Analytics Studio with CSV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7. Evaluation Benchmarks &amp;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Pipeline Benchmarks &amp; Tests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14 / 14 Automated Pytest test cases passed (100% pass rate).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Sample ETL batch processed 200 rows in 0.21 seconds.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Batch of 3,000 rows loaded in 3.19s with perfect MD5 reconciliation.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API endpoint latency consistently under 25ms under local load.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Zero unhandled exceptions across 8 data quality audit suites.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Portfolio Risk Findings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Education Risk: High School segment exhibits highest default rate (26.2%) vs Graduate School (19.2%).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Age Disparity: Senior age group (60+) has highest default share (28.6%), while 30-39 group is lowest (21.0%).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Utilization Correlation: Accounts exceeding 85% credit utilization with payment delay have &gt;68% default rate.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Cashflow Net Expansion: Billing balances exceed collections by ~15-20% monthly across revolving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8E5"/>
                </a:solidFill>
              </a:defRPr>
            </a:pPr>
            <a:r>
              <a:t>PROJECT 13: BANKING LOAN RISK ANALYSIS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8. Challenges, Learnings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Key Challenges &amp; Decisions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Challenge: Wide, unnormalized billing schema in legacy UCI format.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Resolution: Unpivoted into normalized relational bills and payments child tables with compound indexing.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Challenge: High query latency on multi-table aggregations over large portfolios.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Resolution: Implemented materialized segment_kpi_summaries table refreshed dynamically upon ETL completion.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237E"/>
                </a:solidFill>
              </a:defRPr>
            </a:pPr>
            <a:r>
              <a:t>Future Production Roadmap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Automate CI/CD pipeline deployment to AWS/Azure with Docker containerization.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Integrate distributed streaming ingestion via Apache Kafka for real-time transaction processing.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Deploy machine learning classification model (XGBoost/LightGBM) to complement rule-based risk scoring.</a:t>
            </a:r>
          </a:p>
          <a:p>
            <a:pPr>
              <a:spcAft>
                <a:spcPts val="600"/>
              </a:spcAft>
              <a:defRPr sz="1150">
                <a:solidFill>
                  <a:srgbClr val="212121"/>
                </a:solidFill>
              </a:defRPr>
            </a:pPr>
            <a:r>
              <a:t>• Add automated email/SMS delinquency alerts for accounts entering 60+ days past due.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